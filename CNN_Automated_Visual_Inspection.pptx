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anrope Light"/>
      <p:regular r:id="rId16"/>
      <p:bold r:id="rId17"/>
    </p:embeddedFont>
    <p:embeddedFont>
      <p:font typeface="Anton"/>
      <p:regular r:id="rId18"/>
    </p:embeddedFont>
    <p:embeddedFont>
      <p:font typeface="Manrope SemiBold"/>
      <p:regular r:id="rId19"/>
      <p:bold r:id="rId20"/>
    </p:embeddedFont>
    <p:embeddedFont>
      <p:font typeface="Manrope"/>
      <p:regular r:id="rId21"/>
      <p:bold r:id="rId22"/>
    </p:embeddedFont>
    <p:embeddedFont>
      <p:font typeface="Manrope ExtraBold"/>
      <p:bold r:id="rId23"/>
    </p:embeddedFont>
    <p:embeddedFont>
      <p:font typeface="Manrope Medium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bold.fntdata"/><Relationship Id="rId22" Type="http://schemas.openxmlformats.org/officeDocument/2006/relationships/font" Target="fonts/Manrope-bold.fntdata"/><Relationship Id="rId21" Type="http://schemas.openxmlformats.org/officeDocument/2006/relationships/font" Target="fonts/Manrope-regular.fntdata"/><Relationship Id="rId24" Type="http://schemas.openxmlformats.org/officeDocument/2006/relationships/font" Target="fonts/ManropeMedium-regular.fntdata"/><Relationship Id="rId23" Type="http://schemas.openxmlformats.org/officeDocument/2006/relationships/font" Target="fonts/Manrope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anrope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Light-bold.fntdata"/><Relationship Id="rId16" Type="http://schemas.openxmlformats.org/officeDocument/2006/relationships/font" Target="fonts/ManropeLight-regular.fntdata"/><Relationship Id="rId19" Type="http://schemas.openxmlformats.org/officeDocument/2006/relationships/font" Target="fonts/ManropeSemiBold-regular.fntdata"/><Relationship Id="rId18" Type="http://schemas.openxmlformats.org/officeDocument/2006/relationships/font" Target="fonts/Anto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d836e88abf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g3d836e88abf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g3d836e88abf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d836e88abf_2_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g3d836e88abf_2_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g3d836e88abf_2_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d836e88abf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3" name="Google Shape;1043;g3d836e88abf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g3d836e88abf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d836e88abf_2_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g3d836e88abf_2_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g3d836e88abf_2_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d836e88abf_2_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g3d836e88abf_2_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g3d836e88abf_2_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d836e88abf_2_1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6" name="Google Shape;1126;g3d836e88abf_2_1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g3d836e88abf_2_1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d836e88abf_0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8" name="Google Shape;1138;g3d836e88abf_0_1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g3d836e88abf_0_1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d836e88abf_2_1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6" name="Google Shape;1146;g3d836e88abf_2_1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g3d836e88abf_2_1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d836e88abf_0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9" name="Google Shape;1169;g3d836e88abf_0_3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3d836e88abf_0_3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d836e88abf_2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8" name="Google Shape;1178;g3d836e88abf_2_1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g3d836e88abf_2_1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3" name="Google Shape;33;p2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4" name="Google Shape;34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" name="Google Shape;56;p2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7" name="Google Shape;57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" name="Google Shape;79;p2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80" name="Google Shape;80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2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5" name="Google Shape;105;p2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6" name="Google Shape;106;p2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" name="Google Shape;109;p3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1" name="Google Shape;111;p3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14" name="Google Shape;114;p4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15" name="Google Shape;115;p4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4" name="Google Shape;124;p4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4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4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31" name="Google Shape;131;p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0" name="Google Shape;140;p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" name="Google Shape;141;p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42" name="Google Shape;142;p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43" name="Google Shape;143;p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4" name="Google Shape;144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6" name="Google Shape;146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7" name="Google Shape;147;p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8" name="Google Shape;148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0" name="Google Shape;150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1" name="Google Shape;151;p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2" name="Google Shape;152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3" name="Google Shape;153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4" name="Google Shape;154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5" name="Google Shape;155;p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6" name="Google Shape;156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" name="Google Shape;157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" name="Google Shape;158;p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9" name="Google Shape;159;p5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1" name="Google Shape;161;p5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2" name="Google Shape;162;p5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4" name="Google Shape;164;p5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5" name="Google Shape;165;p5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6" name="Google Shape;166;p5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7" name="Google Shape;167;p5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8" name="Google Shape;168;p5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6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2" name="Google Shape;172;p6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4" name="Google Shape;174;p6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5" name="Google Shape;175;p6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6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6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5" name="Google Shape;185;p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94" name="Google Shape;194;p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7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96" name="Google Shape;196;p7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0" name="Google Shape;200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1" name="Google Shape;201;p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2" name="Google Shape;202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3" name="Google Shape;203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4" name="Google Shape;204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5" name="Google Shape;205;p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6" name="Google Shape;206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7" name="Google Shape;207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9" name="Google Shape;209;p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10" name="Google Shape;210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11" name="Google Shape;211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12" name="Google Shape;212;p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13" name="Google Shape;213;p7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4" name="Google Shape;214;p7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5" name="Google Shape;215;p7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6" name="Google Shape;216;p7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7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7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7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7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7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p8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8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6" name="Google Shape;226;p8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27" name="Google Shape;227;p8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28" name="Google Shape;228;p8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1" name="Google Shape;231;p9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9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" name="Google Shape;233;p9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34" name="Google Shape;234;p9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Google Shape;237;p1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10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9" name="Google Shape;239;p1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41" name="Google Shape;241;p1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44" name="Google Shape;244;p1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53" name="Google Shape;253;p11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p11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55" name="Google Shape;255;p11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56" name="Google Shape;256;p11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7" name="Google Shape;257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9" name="Google Shape;259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0" name="Google Shape;260;p11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1" name="Google Shape;261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4" name="Google Shape;264;p11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5" name="Google Shape;265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8" name="Google Shape;268;p11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69" name="Google Shape;269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70" name="Google Shape;270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71" name="Google Shape;271;p11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72" name="Google Shape;272;p1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276" name="Google Shape;276;p12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277" name="Google Shape;277;p12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278" name="Google Shape;278;p12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9" name="Google Shape;279;p12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12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5" name="Google Shape;285;p12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6" name="Google Shape;286;p12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3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GB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0" name="Google Shape;290;p13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3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2" name="Google Shape;292;p1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96" name="Google Shape;296;p1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3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4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01" name="Google Shape;301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02" name="Google Shape;3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5" name="Google Shape;3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6" name="Google Shape;3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" name="Google Shape;3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4" name="Google Shape;3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4" name="Google Shape;324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25" name="Google Shape;3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" name="Google Shape;3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" name="Google Shape;3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6" name="Google Shape;3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3" name="Google Shape;3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6" name="Google Shape;3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47" name="Google Shape;347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48" name="Google Shape;348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70" name="Google Shape;370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1" name="Google Shape;371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93" name="Google Shape;393;p1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4" name="Google Shape;394;p1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4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6" name="Google Shape;396;p14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5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399" name="Google Shape;399;p15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15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" name="Google Shape;401;p15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2" name="Google Shape;402;p15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" name="Google Shape;403;p15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15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15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" name="Google Shape;406;p15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15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p15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15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0" name="Google Shape;410;p15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11" name="Google Shape;411;p15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12" name="Google Shape;412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13" name="Google Shape;41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14" name="Google Shape;41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5" name="Google Shape;41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6" name="Google Shape;41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17" name="Google Shape;41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8" name="Google Shape;41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9" name="Google Shape;41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20" name="Google Shape;42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1" name="Google Shape;42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22" name="Google Shape;422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23" name="Google Shape;42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24" name="Google Shape;42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5" name="Google Shape;42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6" name="Google Shape;42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27" name="Google Shape;42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8" name="Google Shape;42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9" name="Google Shape;42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30" name="Google Shape;43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1" name="Google Shape;43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32" name="Google Shape;432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33" name="Google Shape;43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34" name="Google Shape;43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5" name="Google Shape;43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6" name="Google Shape;43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37" name="Google Shape;43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8" name="Google Shape;43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40" name="Google Shape;44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1" name="Google Shape;44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42" name="Google Shape;442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43" name="Google Shape;44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44" name="Google Shape;44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5" name="Google Shape;44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46" name="Google Shape;44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47" name="Google Shape;44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8" name="Google Shape;44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49" name="Google Shape;449;p15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0" name="Google Shape;450;p15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2" name="Google Shape;45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3" name="Google Shape;45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4" name="Google Shape;45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5" name="Google Shape;45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56" name="Google Shape;45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7" name="Google Shape;45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8" name="Google Shape;45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1" name="Google Shape;461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2" name="Google Shape;46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3" name="Google Shape;46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4" name="Google Shape;46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5" name="Google Shape;46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6" name="Google Shape;46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7" name="Google Shape;46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8" name="Google Shape;46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1" name="Google Shape;471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2" name="Google Shape;47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3" name="Google Shape;47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4" name="Google Shape;47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5" name="Google Shape;47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6" name="Google Shape;47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7" name="Google Shape;47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8" name="Google Shape;47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1" name="Google Shape;481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2" name="Google Shape;48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3" name="Google Shape;48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4" name="Google Shape;48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5" name="Google Shape;48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6" name="Google Shape;48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88" name="Google Shape;488;p15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89" name="Google Shape;489;p15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6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492" name="Google Shape;492;p1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493" name="Google Shape;493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9" name="Google Shape;499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3" name="Google Shape;503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4" name="Google Shape;514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15" name="Google Shape;515;p1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16" name="Google Shape;516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2" name="Google Shape;522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3" name="Google Shape;523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4" name="Google Shape;524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5" name="Google Shape;525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6" name="Google Shape;526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38" name="Google Shape;538;p1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39" name="Google Shape;539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1" name="Google Shape;561;p1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2" name="Google Shape;562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84" name="Google Shape;584;p16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5" name="Google Shape;585;p16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16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16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8" name="Google Shape;588;p16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16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16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91" name="Google Shape;591;p16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16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16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16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16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6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6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16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7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01" name="Google Shape;601;p17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7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7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7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7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7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7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7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17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17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17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17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3" name="Google Shape;613;p17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17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18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8" name="Google Shape;618;p18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19" name="Google Shape;619;p18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0" name="Google Shape;620;p18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1" name="Google Shape;621;p18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2" name="Google Shape;622;p18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18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29" name="Google Shape;629;p18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30" name="Google Shape;630;p18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1" name="Google Shape;631;p18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36" name="Google Shape;636;p1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7" name="Google Shape;637;p1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38" name="Google Shape;638;p1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39" name="Google Shape;639;p1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0" name="Google Shape;640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1" name="Google Shape;641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2" name="Google Shape;642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3" name="Google Shape;643;p1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4" name="Google Shape;644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5" name="Google Shape;645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6" name="Google Shape;646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7" name="Google Shape;647;p1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8" name="Google Shape;648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9" name="Google Shape;649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0" name="Google Shape;650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51" name="Google Shape;651;p1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52" name="Google Shape;652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3" name="Google Shape;653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54" name="Google Shape;654;p1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55" name="Google Shape;655;p18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18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7" name="Google Shape;657;p18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18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18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18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18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9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4" name="Google Shape;664;p19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665" name="Google Shape;665;p19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666" name="Google Shape;666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667" name="Google Shape;66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68" name="Google Shape;66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69" name="Google Shape;66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0" name="Google Shape;67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71" name="Google Shape;67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2" name="Google Shape;67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3" name="Google Shape;67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74" name="Google Shape;67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5" name="Google Shape;67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76" name="Google Shape;676;p19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677" name="Google Shape;67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78" name="Google Shape;67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9" name="Google Shape;67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0" name="Google Shape;68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81" name="Google Shape;68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2" name="Google Shape;68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3" name="Google Shape;68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84" name="Google Shape;68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5" name="Google Shape;68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86" name="Google Shape;686;p19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687" name="Google Shape;68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88" name="Google Shape;68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9" name="Google Shape;68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0" name="Google Shape;69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91" name="Google Shape;69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2" name="Google Shape;69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3" name="Google Shape;69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94" name="Google Shape;69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96" name="Google Shape;696;p19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697" name="Google Shape;69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98" name="Google Shape;69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9" name="Google Shape;69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0" name="Google Shape;70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1" name="Google Shape;70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2" name="Google Shape;70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03" name="Google Shape;703;p19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04" name="Google Shape;704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05" name="Google Shape;70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06" name="Google Shape;70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7" name="Google Shape;70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8" name="Google Shape;70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9" name="Google Shape;70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0" name="Google Shape;71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1" name="Google Shape;711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2" name="Google Shape;712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3" name="Google Shape;713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14" name="Google Shape;714;p19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15" name="Google Shape;71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21" name="Google Shape;721;p19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22" name="Google Shape;722;p19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19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4" name="Google Shape;724;p19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6" name="Google Shape;726;p19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7" name="Google Shape;727;p19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8" name="Google Shape;728;p19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9" name="Google Shape;729;p19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19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0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36" name="Google Shape;736;p20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37" name="Google Shape;737;p20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8" name="Google Shape;738;p20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39" name="Google Shape;739;p20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40" name="Google Shape;740;p20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1" name="Google Shape;741;p20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20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3" name="Google Shape;743;p20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4" name="Google Shape;744;p20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5" name="Google Shape;745;p20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6" name="Google Shape;746;p20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7" name="Google Shape;747;p20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8" name="Google Shape;748;p20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9" name="Google Shape;749;p20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0" name="Google Shape;750;p20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1" name="Google Shape;751;p20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2" name="Google Shape;752;p20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20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20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55" name="Google Shape;755;p20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756" name="Google Shape;756;p20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57" name="Google Shape;757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58" name="Google Shape;75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59" name="Google Shape;75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0" name="Google Shape;76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1" name="Google Shape;76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2" name="Google Shape;76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3" name="Google Shape;76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4" name="Google Shape;76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5" name="Google Shape;76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6" name="Google Shape;76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67" name="Google Shape;767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68" name="Google Shape;76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9" name="Google Shape;76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0" name="Google Shape;77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1" name="Google Shape;77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2" name="Google Shape;77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3" name="Google Shape;77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4" name="Google Shape;77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5" name="Google Shape;77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6" name="Google Shape;77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77" name="Google Shape;777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78" name="Google Shape;77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9" name="Google Shape;77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0" name="Google Shape;78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1" name="Google Shape;78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2" name="Google Shape;78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3" name="Google Shape;78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4" name="Google Shape;78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5" name="Google Shape;78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6" name="Google Shape;78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87" name="Google Shape;787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788" name="Google Shape;78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9" name="Google Shape;78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0" name="Google Shape;79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1" name="Google Shape;79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2" name="Google Shape;79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3" name="Google Shape;79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794" name="Google Shape;794;p20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95" name="Google Shape;795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96" name="Google Shape;79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7" name="Google Shape;79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8" name="Google Shape;79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9" name="Google Shape;79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0" name="Google Shape;80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1" name="Google Shape;80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2" name="Google Shape;80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3" name="Google Shape;80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4" name="Google Shape;80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05" name="Google Shape;805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6" name="Google Shape;80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2" name="Google Shape;81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3" name="Google Shape;81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4" name="Google Shape;81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5" name="Google Shape;815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6" name="Google Shape;81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2" name="Google Shape;82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3" name="Google Shape;82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4" name="Google Shape;82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5" name="Google Shape;825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26" name="Google Shape;82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32" name="Google Shape;832;p20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20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4" name="Google Shape;834;p20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5" name="Google Shape;835;p20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6" name="Google Shape;836;p20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7" name="Google Shape;837;p20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8" name="Google Shape;838;p20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39" name="Google Shape;839;p20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0" name="Google Shape;840;p20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41" name="Google Shape;841;p20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2" name="Google Shape;842;p20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2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45" name="Google Shape;845;p2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6" name="Google Shape;846;p2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7" name="Google Shape;847;p2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" name="Google Shape;848;p2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9" name="Google Shape;849;p2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0" name="Google Shape;850;p2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2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2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2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4" name="Google Shape;854;p2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2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856" name="Google Shape;856;p21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7" name="Google Shape;857;p21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58" name="Google Shape;858;p21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9" name="Google Shape;859;p21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0" name="Google Shape;860;p21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1" name="Google Shape;861;p21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2" name="Google Shape;862;p21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3" name="Google Shape;863;p21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4" name="Google Shape;864;p21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5" name="Google Shape;865;p21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6" name="Google Shape;866;p21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7" name="Google Shape;867;p21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2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2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71" name="Google Shape;871;p22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872" name="Google Shape;872;p22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73" name="Google Shape;873;p22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7" name="Google Shape;877;p2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79" name="Google Shape;879;p2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1" name="Google Shape;881;p23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2" name="Google Shape;882;p23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3" name="Google Shape;883;p23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4" name="Google Shape;884;p23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5" name="Google Shape;885;p23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2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88" name="Google Shape;888;p2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9" name="Google Shape;889;p2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0" name="Google Shape;890;p2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2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2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2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2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2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2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897" name="Google Shape;897;p2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8" name="Google Shape;898;p24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899" name="Google Shape;899;p24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00" name="Google Shape;900;p2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1" name="Google Shape;901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2" name="Google Shape;902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4" name="Google Shape;904;p2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5" name="Google Shape;905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6" name="Google Shape;906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7" name="Google Shape;907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8" name="Google Shape;908;p2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9" name="Google Shape;909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0" name="Google Shape;910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1" name="Google Shape;911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12" name="Google Shape;912;p2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13" name="Google Shape;913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4" name="Google Shape;914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15" name="Google Shape;915;p2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16" name="Google Shape;916;p24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2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24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19" name="Google Shape;919;p24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0" name="Google Shape;920;p24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1" name="Google Shape;921;p24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2" name="Google Shape;922;p24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3" name="Google Shape;923;p24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4" name="Google Shape;924;p24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5" name="Google Shape;925;p24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8" name="Google Shape;928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3" name="Google Shape;93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6" name="Google Shape;936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7" name="Google Shape;937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2" name="Google Shape;94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7" name="Google Shape;94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8" name="Google Shape;94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3" name="Google Shape;953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7" name="Google Shape;957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8" name="Google Shape;958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9" name="Google Shape;959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0" name="Google Shape;960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1" name="Google Shape;961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2" name="Google Shape;962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5" name="Google Shape;965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6" name="Google Shape;966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0" name="Google Shape;970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1" name="Google Shape;971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5" name="Google Shape;975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6" name="Google Shape;976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7" name="Google Shape;977;p3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3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9" name="Google Shape;979;p3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0" name="Google Shape;980;p3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3" name="Google Shape;98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6" name="Google Shape;98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7" name="Google Shape;98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9" name="Google Shape;98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1" name="Google Shape;99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4" name="Google Shape;99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7" name="Google Shape;99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9" name="Google Shape;99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1" name="Google Shape;100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3" name="Google Shape;101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5" name="Google Shape;101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github.com/Aryaremani/Automated-Visual-Inspection-using-CNN" TargetMode="External"/><Relationship Id="rId4" Type="http://schemas.openxmlformats.org/officeDocument/2006/relationships/hyperlink" Target="https://automated-visual-inspection-using-cnn.streamlit.app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hyperlink" Target="https://automated-visual-inspection-using-cnn.streamlit.app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github.com/Aryaremani/Automated-Visual-Inspection-using-CN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46"/>
          <p:cNvSpPr/>
          <p:nvPr/>
        </p:nvSpPr>
        <p:spPr>
          <a:xfrm>
            <a:off x="457200" y="791351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GB" sz="4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Visual Inspection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46"/>
          <p:cNvSpPr/>
          <p:nvPr/>
        </p:nvSpPr>
        <p:spPr>
          <a:xfrm>
            <a:off x="457200" y="170970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0" i="0" lang="en-GB" sz="25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using Convolutional Neural Networks (CNN)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6"/>
          <p:cNvSpPr/>
          <p:nvPr/>
        </p:nvSpPr>
        <p:spPr>
          <a:xfrm>
            <a:off x="2743200" y="2549690"/>
            <a:ext cx="3657600" cy="36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46"/>
          <p:cNvSpPr/>
          <p:nvPr/>
        </p:nvSpPr>
        <p:spPr>
          <a:xfrm>
            <a:off x="457200" y="280312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GB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Team Members: Abhi P Vijay  ·  Anamika A  ·  Arya 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6"/>
          <p:cNvSpPr/>
          <p:nvPr/>
        </p:nvSpPr>
        <p:spPr>
          <a:xfrm>
            <a:off x="586552" y="3445755"/>
            <a:ext cx="8229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GB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b="0" i="0" lang="en-GB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github.com/Aryaremani/Automated-Visual-Inspection-using-CNN </a:t>
            </a:r>
            <a:r>
              <a:rPr b="0" i="0" lang="en-GB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GB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Streamlit App: </a:t>
            </a:r>
            <a:r>
              <a:rPr b="0" i="0" lang="en-GB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automated-visual-inspection-using-cnn.streamlit.app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47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Problem Statement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7"/>
          <p:cNvSpPr/>
          <p:nvPr/>
        </p:nvSpPr>
        <p:spPr>
          <a:xfrm>
            <a:off x="365739" y="856573"/>
            <a:ext cx="8519700" cy="3931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7" name="Google Shape;103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6855" y="1199463"/>
            <a:ext cx="484500" cy="4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47"/>
          <p:cNvSpPr/>
          <p:nvPr/>
        </p:nvSpPr>
        <p:spPr>
          <a:xfrm>
            <a:off x="1914793" y="1199473"/>
            <a:ext cx="6583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00"/>
              <a:buFont typeface="Calibri"/>
              <a:buNone/>
            </a:pPr>
            <a:r>
              <a:rPr b="1" i="0" lang="en-GB" sz="26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7"/>
          <p:cNvSpPr/>
          <p:nvPr/>
        </p:nvSpPr>
        <p:spPr>
          <a:xfrm>
            <a:off x="656187" y="1775008"/>
            <a:ext cx="79389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GB" sz="1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Manual inspection of bottles in manufacturing is: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GB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Time-consuming &amp; inconsistent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GB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Prone to human error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GB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Inefficient for high-speed lines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0" i="0" lang="en-GB" sz="1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Solution: An automated CNN-based system to accurately detect defects in real time — consistently and at scale.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4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8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8"/>
          <p:cNvSpPr/>
          <p:nvPr/>
        </p:nvSpPr>
        <p:spPr>
          <a:xfrm>
            <a:off x="457195" y="868675"/>
            <a:ext cx="8321100" cy="39318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9" name="Google Shape;104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979" y="1138951"/>
            <a:ext cx="452125" cy="38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48"/>
          <p:cNvSpPr/>
          <p:nvPr/>
        </p:nvSpPr>
        <p:spPr>
          <a:xfrm>
            <a:off x="1500389" y="1138961"/>
            <a:ext cx="6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00"/>
              <a:buFont typeface="Calibri"/>
              <a:buNone/>
            </a:pPr>
            <a:r>
              <a:rPr b="1" i="0" lang="en-GB" sz="26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8"/>
          <p:cNvSpPr/>
          <p:nvPr/>
        </p:nvSpPr>
        <p:spPr>
          <a:xfrm>
            <a:off x="740868" y="1775007"/>
            <a:ext cx="77538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MVTec Anomaly Detection — Bottle Dataset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GB" sz="1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r>
              <a:rPr b="0" i="0" lang="en-GB" sz="1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Industrial anomaly detection benchmark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GB" sz="1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Defects:</a:t>
            </a:r>
            <a:r>
              <a:rPr b="0" i="0" lang="en-GB" sz="1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Cracks, contamination, scratches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GB" sz="1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Dataset Size:</a:t>
            </a:r>
            <a:r>
              <a:rPr b="0" i="0" lang="en-GB" sz="1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5,354 images across 15 categories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GB" sz="1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Training:</a:t>
            </a:r>
            <a:r>
              <a:rPr b="0" i="0" lang="en-GB" sz="1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Defect-free bottle images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GB" sz="1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Test Data:</a:t>
            </a:r>
            <a:r>
              <a:rPr b="0" i="0" lang="en-GB" sz="1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Normal + anomalous with pixel-level annotations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8"/>
          <p:cNvSpPr/>
          <p:nvPr/>
        </p:nvSpPr>
        <p:spPr>
          <a:xfrm>
            <a:off x="0" y="5047488"/>
            <a:ext cx="9144000" cy="91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4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9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Methodology &amp; Pipeline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9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Science Life Cycle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49"/>
          <p:cNvSpPr/>
          <p:nvPr/>
        </p:nvSpPr>
        <p:spPr>
          <a:xfrm>
            <a:off x="274320" y="1234440"/>
            <a:ext cx="1572768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9"/>
          <p:cNvSpPr/>
          <p:nvPr/>
        </p:nvSpPr>
        <p:spPr>
          <a:xfrm>
            <a:off x="347472" y="123444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Problem Definition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Literature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9"/>
          <p:cNvSpPr/>
          <p:nvPr/>
        </p:nvSpPr>
        <p:spPr>
          <a:xfrm>
            <a:off x="1847088" y="1655064"/>
            <a:ext cx="77724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49"/>
          <p:cNvSpPr/>
          <p:nvPr/>
        </p:nvSpPr>
        <p:spPr>
          <a:xfrm>
            <a:off x="1924812" y="1234440"/>
            <a:ext cx="1572768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9"/>
          <p:cNvSpPr/>
          <p:nvPr/>
        </p:nvSpPr>
        <p:spPr>
          <a:xfrm>
            <a:off x="1997964" y="123444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Data Collection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Understanding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9"/>
          <p:cNvSpPr/>
          <p:nvPr/>
        </p:nvSpPr>
        <p:spPr>
          <a:xfrm>
            <a:off x="3497580" y="1655064"/>
            <a:ext cx="77724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9"/>
          <p:cNvSpPr/>
          <p:nvPr/>
        </p:nvSpPr>
        <p:spPr>
          <a:xfrm>
            <a:off x="3575304" y="1234440"/>
            <a:ext cx="1572768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49"/>
          <p:cNvSpPr/>
          <p:nvPr/>
        </p:nvSpPr>
        <p:spPr>
          <a:xfrm>
            <a:off x="3648456" y="123444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Data Preprocessing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Cleaning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9"/>
          <p:cNvSpPr/>
          <p:nvPr/>
        </p:nvSpPr>
        <p:spPr>
          <a:xfrm>
            <a:off x="5148072" y="1655064"/>
            <a:ext cx="77724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49"/>
          <p:cNvSpPr/>
          <p:nvPr/>
        </p:nvSpPr>
        <p:spPr>
          <a:xfrm>
            <a:off x="5225796" y="1234440"/>
            <a:ext cx="1572768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49"/>
          <p:cNvSpPr/>
          <p:nvPr/>
        </p:nvSpPr>
        <p:spPr>
          <a:xfrm>
            <a:off x="5298948" y="123444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Exploratory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9"/>
          <p:cNvSpPr/>
          <p:nvPr/>
        </p:nvSpPr>
        <p:spPr>
          <a:xfrm>
            <a:off x="6798564" y="1655064"/>
            <a:ext cx="77724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9"/>
          <p:cNvSpPr/>
          <p:nvPr/>
        </p:nvSpPr>
        <p:spPr>
          <a:xfrm>
            <a:off x="6876288" y="1234440"/>
            <a:ext cx="1572768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49"/>
          <p:cNvSpPr/>
          <p:nvPr/>
        </p:nvSpPr>
        <p:spPr>
          <a:xfrm>
            <a:off x="6949440" y="123444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Feature Engineering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Selection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9"/>
          <p:cNvSpPr/>
          <p:nvPr/>
        </p:nvSpPr>
        <p:spPr>
          <a:xfrm>
            <a:off x="274320" y="2331720"/>
            <a:ext cx="1572768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9"/>
          <p:cNvSpPr/>
          <p:nvPr/>
        </p:nvSpPr>
        <p:spPr>
          <a:xfrm>
            <a:off x="347472" y="233172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Model Building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Training</a:t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(ResNet18)</a:t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9"/>
          <p:cNvSpPr/>
          <p:nvPr/>
        </p:nvSpPr>
        <p:spPr>
          <a:xfrm>
            <a:off x="1847088" y="2752344"/>
            <a:ext cx="77724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49"/>
          <p:cNvSpPr/>
          <p:nvPr/>
        </p:nvSpPr>
        <p:spPr>
          <a:xfrm>
            <a:off x="1924812" y="2331720"/>
            <a:ext cx="1572768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49"/>
          <p:cNvSpPr/>
          <p:nvPr/>
        </p:nvSpPr>
        <p:spPr>
          <a:xfrm>
            <a:off x="1997964" y="233172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Model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Comparison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9"/>
          <p:cNvSpPr/>
          <p:nvPr/>
        </p:nvSpPr>
        <p:spPr>
          <a:xfrm>
            <a:off x="3497580" y="2752344"/>
            <a:ext cx="77724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49"/>
          <p:cNvSpPr/>
          <p:nvPr/>
        </p:nvSpPr>
        <p:spPr>
          <a:xfrm>
            <a:off x="3575304" y="2331720"/>
            <a:ext cx="1572768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9"/>
          <p:cNvSpPr/>
          <p:nvPr/>
        </p:nvSpPr>
        <p:spPr>
          <a:xfrm>
            <a:off x="3648456" y="233172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Model Interpretation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Explainability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9"/>
          <p:cNvSpPr/>
          <p:nvPr/>
        </p:nvSpPr>
        <p:spPr>
          <a:xfrm>
            <a:off x="5148072" y="2752344"/>
            <a:ext cx="77724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49"/>
          <p:cNvSpPr/>
          <p:nvPr/>
        </p:nvSpPr>
        <p:spPr>
          <a:xfrm>
            <a:off x="5225796" y="2331720"/>
            <a:ext cx="1572768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49"/>
          <p:cNvSpPr/>
          <p:nvPr/>
        </p:nvSpPr>
        <p:spPr>
          <a:xfrm>
            <a:off x="5298948" y="233172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9.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(Streamlit)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9"/>
          <p:cNvSpPr/>
          <p:nvPr/>
        </p:nvSpPr>
        <p:spPr>
          <a:xfrm>
            <a:off x="6798564" y="2752344"/>
            <a:ext cx="77724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49"/>
          <p:cNvSpPr/>
          <p:nvPr/>
        </p:nvSpPr>
        <p:spPr>
          <a:xfrm>
            <a:off x="6876288" y="2331720"/>
            <a:ext cx="1572768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49"/>
          <p:cNvSpPr/>
          <p:nvPr/>
        </p:nvSpPr>
        <p:spPr>
          <a:xfrm>
            <a:off x="6949440" y="2331720"/>
            <a:ext cx="14264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10. Documentation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(README, GitHub)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9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49"/>
          <p:cNvSpPr/>
          <p:nvPr/>
        </p:nvSpPr>
        <p:spPr>
          <a:xfrm>
            <a:off x="548640" y="3520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CNN Pipeline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49"/>
          <p:cNvSpPr/>
          <p:nvPr/>
        </p:nvSpPr>
        <p:spPr>
          <a:xfrm>
            <a:off x="457200" y="3931920"/>
            <a:ext cx="132588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49"/>
          <p:cNvSpPr/>
          <p:nvPr/>
        </p:nvSpPr>
        <p:spPr>
          <a:xfrm>
            <a:off x="457200" y="393192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9"/>
          <p:cNvSpPr/>
          <p:nvPr/>
        </p:nvSpPr>
        <p:spPr>
          <a:xfrm>
            <a:off x="1783080" y="4283964"/>
            <a:ext cx="13716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9"/>
          <p:cNvSpPr/>
          <p:nvPr/>
        </p:nvSpPr>
        <p:spPr>
          <a:xfrm>
            <a:off x="1920240" y="3931920"/>
            <a:ext cx="132588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9"/>
          <p:cNvSpPr/>
          <p:nvPr/>
        </p:nvSpPr>
        <p:spPr>
          <a:xfrm>
            <a:off x="1920240" y="393192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9"/>
          <p:cNvSpPr/>
          <p:nvPr/>
        </p:nvSpPr>
        <p:spPr>
          <a:xfrm>
            <a:off x="3246120" y="4283964"/>
            <a:ext cx="13716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9"/>
          <p:cNvSpPr/>
          <p:nvPr/>
        </p:nvSpPr>
        <p:spPr>
          <a:xfrm>
            <a:off x="3383280" y="3931920"/>
            <a:ext cx="132588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9"/>
          <p:cNvSpPr/>
          <p:nvPr/>
        </p:nvSpPr>
        <p:spPr>
          <a:xfrm>
            <a:off x="3383280" y="393192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Feature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9"/>
          <p:cNvSpPr/>
          <p:nvPr/>
        </p:nvSpPr>
        <p:spPr>
          <a:xfrm>
            <a:off x="4709160" y="4283964"/>
            <a:ext cx="13716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9"/>
          <p:cNvSpPr/>
          <p:nvPr/>
        </p:nvSpPr>
        <p:spPr>
          <a:xfrm>
            <a:off x="4846320" y="3931920"/>
            <a:ext cx="132588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49"/>
          <p:cNvSpPr/>
          <p:nvPr/>
        </p:nvSpPr>
        <p:spPr>
          <a:xfrm>
            <a:off x="4846320" y="393192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Connected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9"/>
          <p:cNvSpPr/>
          <p:nvPr/>
        </p:nvSpPr>
        <p:spPr>
          <a:xfrm>
            <a:off x="6172200" y="4283964"/>
            <a:ext cx="13716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9"/>
          <p:cNvSpPr/>
          <p:nvPr/>
        </p:nvSpPr>
        <p:spPr>
          <a:xfrm>
            <a:off x="6309360" y="3931920"/>
            <a:ext cx="132588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49"/>
          <p:cNvSpPr/>
          <p:nvPr/>
        </p:nvSpPr>
        <p:spPr>
          <a:xfrm>
            <a:off x="6309360" y="3931920"/>
            <a:ext cx="1325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5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5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Results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50"/>
          <p:cNvSpPr/>
          <p:nvPr/>
        </p:nvSpPr>
        <p:spPr>
          <a:xfrm>
            <a:off x="457200" y="869997"/>
            <a:ext cx="2560200" cy="1371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50"/>
          <p:cNvSpPr/>
          <p:nvPr/>
        </p:nvSpPr>
        <p:spPr>
          <a:xfrm>
            <a:off x="457200" y="915717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~79%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50"/>
          <p:cNvSpPr/>
          <p:nvPr/>
        </p:nvSpPr>
        <p:spPr>
          <a:xfrm>
            <a:off x="457200" y="1647237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50"/>
          <p:cNvSpPr/>
          <p:nvPr/>
        </p:nvSpPr>
        <p:spPr>
          <a:xfrm>
            <a:off x="3291840" y="869997"/>
            <a:ext cx="2560200" cy="1371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50"/>
          <p:cNvSpPr/>
          <p:nvPr/>
        </p:nvSpPr>
        <p:spPr>
          <a:xfrm>
            <a:off x="3291840" y="915717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50"/>
          <p:cNvSpPr/>
          <p:nvPr/>
        </p:nvSpPr>
        <p:spPr>
          <a:xfrm>
            <a:off x="3291840" y="1647237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Defect Recall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50"/>
          <p:cNvSpPr/>
          <p:nvPr/>
        </p:nvSpPr>
        <p:spPr>
          <a:xfrm>
            <a:off x="6126480" y="869997"/>
            <a:ext cx="2560200" cy="1371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50"/>
          <p:cNvSpPr/>
          <p:nvPr/>
        </p:nvSpPr>
        <p:spPr>
          <a:xfrm>
            <a:off x="6126480" y="915717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50"/>
          <p:cNvSpPr/>
          <p:nvPr/>
        </p:nvSpPr>
        <p:spPr>
          <a:xfrm>
            <a:off x="6126480" y="1647237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Defect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50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3" name="Google Shape;1123;p50" title="Screenshot 2026-04-20 222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213" y="2393997"/>
            <a:ext cx="4211563" cy="250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5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5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Deployed Application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1"/>
          <p:cNvSpPr/>
          <p:nvPr/>
        </p:nvSpPr>
        <p:spPr>
          <a:xfrm>
            <a:off x="365739" y="822950"/>
            <a:ext cx="8229600" cy="4114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2" name="Google Shape;113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249" y="960100"/>
            <a:ext cx="523500" cy="3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51"/>
          <p:cNvSpPr/>
          <p:nvPr/>
        </p:nvSpPr>
        <p:spPr>
          <a:xfrm>
            <a:off x="1801134" y="960110"/>
            <a:ext cx="650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i="0" lang="en-GB" sz="26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Streamlit Web Application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1"/>
          <p:cNvSpPr/>
          <p:nvPr/>
        </p:nvSpPr>
        <p:spPr>
          <a:xfrm>
            <a:off x="652818" y="1417310"/>
            <a:ext cx="76554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GB" sz="1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Features: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GB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bottle images for instant inspection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GB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defect classification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GB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 vs Defective prediction 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GB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Confidence score display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GB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Clean, user-friendly interface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GB" sz="1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URL:</a:t>
            </a:r>
            <a:r>
              <a:rPr b="0" i="0" lang="en-GB" sz="1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1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automated-visual-inspection-using-cnn.streamlit.app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5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52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Deployed Application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3" name="Google Shape;1143;p52" title="Screenshot 2026-04-20 2224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8080"/>
            <a:ext cx="8839204" cy="3964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5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5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Conclusions, Limitations &amp; Future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53"/>
          <p:cNvSpPr/>
          <p:nvPr/>
        </p:nvSpPr>
        <p:spPr>
          <a:xfrm>
            <a:off x="320040" y="822960"/>
            <a:ext cx="2743200" cy="406908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53"/>
          <p:cNvSpPr/>
          <p:nvPr/>
        </p:nvSpPr>
        <p:spPr>
          <a:xfrm>
            <a:off x="320040" y="822960"/>
            <a:ext cx="2743200" cy="7315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3" name="Google Shape;115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58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53"/>
          <p:cNvSpPr/>
          <p:nvPr/>
        </p:nvSpPr>
        <p:spPr>
          <a:xfrm>
            <a:off x="868680" y="100584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53"/>
          <p:cNvSpPr/>
          <p:nvPr/>
        </p:nvSpPr>
        <p:spPr>
          <a:xfrm>
            <a:off x="457200" y="1463040"/>
            <a:ext cx="2514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Achieved ~79% test accuracy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Recall of 1.00 — zero missed defects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CNN effectively automates visual inspection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System is deployable on Streamlit for real use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53"/>
          <p:cNvSpPr/>
          <p:nvPr/>
        </p:nvSpPr>
        <p:spPr>
          <a:xfrm>
            <a:off x="3246120" y="822960"/>
            <a:ext cx="2743200" cy="406908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53"/>
          <p:cNvSpPr/>
          <p:nvPr/>
        </p:nvSpPr>
        <p:spPr>
          <a:xfrm>
            <a:off x="3246120" y="822960"/>
            <a:ext cx="274320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8" name="Google Shape;115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0058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53"/>
          <p:cNvSpPr/>
          <p:nvPr/>
        </p:nvSpPr>
        <p:spPr>
          <a:xfrm>
            <a:off x="3794760" y="100584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53"/>
          <p:cNvSpPr/>
          <p:nvPr/>
        </p:nvSpPr>
        <p:spPr>
          <a:xfrm>
            <a:off x="3383280" y="1463040"/>
            <a:ext cx="2514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Bias towards defect detection (class imbalance)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Limited dataset reduces generalization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lang="en-GB" sz="16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truggle with complex/unseen defect types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Some normal images misclassified as defective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53"/>
          <p:cNvSpPr/>
          <p:nvPr/>
        </p:nvSpPr>
        <p:spPr>
          <a:xfrm>
            <a:off x="6172200" y="822960"/>
            <a:ext cx="2743200" cy="406908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53"/>
          <p:cNvSpPr/>
          <p:nvPr/>
        </p:nvSpPr>
        <p:spPr>
          <a:xfrm>
            <a:off x="6172200" y="822960"/>
            <a:ext cx="2743200" cy="7315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3" name="Google Shape;1163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0058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53"/>
          <p:cNvSpPr/>
          <p:nvPr/>
        </p:nvSpPr>
        <p:spPr>
          <a:xfrm>
            <a:off x="6720840" y="100584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53"/>
          <p:cNvSpPr/>
          <p:nvPr/>
        </p:nvSpPr>
        <p:spPr>
          <a:xfrm>
            <a:off x="6309360" y="1463040"/>
            <a:ext cx="2514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Increase dataset size &amp; diversity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Real-time defect detection in production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Extend to multi-class defect classification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Char char="•"/>
            </a:pPr>
            <a:r>
              <a:rPr b="0" i="0" lang="en-GB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Explore advanced architectures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5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5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54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GB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Github Insights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54"/>
          <p:cNvSpPr/>
          <p:nvPr/>
        </p:nvSpPr>
        <p:spPr>
          <a:xfrm>
            <a:off x="0" y="5047488"/>
            <a:ext cx="9144000" cy="91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5" name="Google Shape;1175;p54" title="Screenshot 2026-04-20 1913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85675"/>
            <a:ext cx="8399876" cy="431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5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55"/>
          <p:cNvSpPr/>
          <p:nvPr/>
        </p:nvSpPr>
        <p:spPr>
          <a:xfrm>
            <a:off x="457200" y="172570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GB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55"/>
          <p:cNvSpPr/>
          <p:nvPr/>
        </p:nvSpPr>
        <p:spPr>
          <a:xfrm>
            <a:off x="2743200" y="2546537"/>
            <a:ext cx="3657600" cy="36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55"/>
          <p:cNvSpPr/>
          <p:nvPr/>
        </p:nvSpPr>
        <p:spPr>
          <a:xfrm>
            <a:off x="457200" y="2729417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5"/>
          <p:cNvSpPr/>
          <p:nvPr/>
        </p:nvSpPr>
        <p:spPr>
          <a:xfrm>
            <a:off x="457200" y="3003737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0" i="0" lang="en-GB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github.com/Aryaremani/Automated-Visual-Inspection-using-CNN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55"/>
          <p:cNvSpPr/>
          <p:nvPr/>
        </p:nvSpPr>
        <p:spPr>
          <a:xfrm>
            <a:off x="457200" y="3415217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Abhi P Vijay  ·  Anamika A  ·  Arya 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55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